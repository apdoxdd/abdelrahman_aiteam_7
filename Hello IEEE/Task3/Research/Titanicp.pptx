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A6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772400" cy="10058400"/>
          </a:xfrm>
          <a:custGeom>
            <a:avLst/>
            <a:gdLst/>
            <a:ahLst/>
            <a:cxnLst/>
            <a:rect l="l" t="t" r="r" b="b"/>
            <a:pathLst>
              <a:path w="7772400" h="10058400">
                <a:moveTo>
                  <a:pt x="7772400" y="10058400"/>
                </a:moveTo>
                <a:lnTo>
                  <a:pt x="0" y="10058400"/>
                </a:lnTo>
                <a:lnTo>
                  <a:pt x="0" y="0"/>
                </a:lnTo>
                <a:lnTo>
                  <a:pt x="7772400" y="0"/>
                </a:lnTo>
                <a:lnTo>
                  <a:pt x="7772400" y="10058400"/>
                </a:lnTo>
                <a:close/>
              </a:path>
            </a:pathLst>
          </a:custGeom>
          <a:solidFill>
            <a:srgbClr val="FFF9E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550" y="114300"/>
            <a:ext cx="514350" cy="5143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A6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A6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00A6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7772400" cy="10058400"/>
          </a:xfrm>
          <a:custGeom>
            <a:avLst/>
            <a:gdLst/>
            <a:ahLst/>
            <a:cxnLst/>
            <a:rect l="l" t="t" r="r" b="b"/>
            <a:pathLst>
              <a:path w="7772400" h="10058400">
                <a:moveTo>
                  <a:pt x="7772400" y="10058400"/>
                </a:moveTo>
                <a:lnTo>
                  <a:pt x="0" y="10058400"/>
                </a:lnTo>
                <a:lnTo>
                  <a:pt x="0" y="0"/>
                </a:lnTo>
                <a:lnTo>
                  <a:pt x="7772400" y="0"/>
                </a:lnTo>
                <a:lnTo>
                  <a:pt x="7772400" y="10058400"/>
                </a:lnTo>
                <a:close/>
              </a:path>
            </a:pathLst>
          </a:custGeom>
          <a:solidFill>
            <a:srgbClr val="FFF9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61925"/>
            <a:ext cx="7762875" cy="238125"/>
          </a:xfrm>
          <a:custGeom>
            <a:avLst/>
            <a:gdLst/>
            <a:ahLst/>
            <a:cxnLst/>
            <a:rect l="l" t="t" r="r" b="b"/>
            <a:pathLst>
              <a:path w="7762875" h="238125">
                <a:moveTo>
                  <a:pt x="7762875" y="238125"/>
                </a:moveTo>
                <a:lnTo>
                  <a:pt x="0" y="238125"/>
                </a:lnTo>
                <a:lnTo>
                  <a:pt x="0" y="0"/>
                </a:lnTo>
                <a:lnTo>
                  <a:pt x="7762875" y="0"/>
                </a:lnTo>
                <a:lnTo>
                  <a:pt x="7762875" y="23812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00049"/>
            <a:ext cx="7762875" cy="581025"/>
          </a:xfrm>
          <a:custGeom>
            <a:avLst/>
            <a:gdLst/>
            <a:ahLst/>
            <a:cxnLst/>
            <a:rect l="l" t="t" r="r" b="b"/>
            <a:pathLst>
              <a:path w="7762875" h="581025">
                <a:moveTo>
                  <a:pt x="7762875" y="0"/>
                </a:moveTo>
                <a:lnTo>
                  <a:pt x="5705475" y="0"/>
                </a:lnTo>
                <a:lnTo>
                  <a:pt x="0" y="0"/>
                </a:lnTo>
                <a:lnTo>
                  <a:pt x="0" y="581025"/>
                </a:lnTo>
                <a:lnTo>
                  <a:pt x="5705475" y="581025"/>
                </a:lnTo>
                <a:lnTo>
                  <a:pt x="7762875" y="581025"/>
                </a:lnTo>
                <a:lnTo>
                  <a:pt x="7762875" y="0"/>
                </a:lnTo>
                <a:close/>
              </a:path>
            </a:pathLst>
          </a:custGeom>
          <a:solidFill>
            <a:srgbClr val="00A69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2175" y="1246631"/>
            <a:ext cx="4518025" cy="11233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00A697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Relationship Id="rId3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92175" y="713231"/>
            <a:ext cx="1092835" cy="364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190" b="1">
                <a:latin typeface="Calibri"/>
                <a:cs typeface="Calibri"/>
              </a:rPr>
              <a:t>IEEE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100" spc="170">
                <a:latin typeface="Calibri"/>
                <a:cs typeface="Calibri"/>
              </a:rPr>
              <a:t>AI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Team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:</a:t>
            </a:r>
            <a:r>
              <a:rPr dirty="0" sz="1100" spc="95">
                <a:latin typeface="Calibri"/>
                <a:cs typeface="Calibri"/>
              </a:rPr>
              <a:t> </a:t>
            </a:r>
            <a:r>
              <a:rPr dirty="0" sz="1100" spc="75">
                <a:latin typeface="Calibri"/>
                <a:cs typeface="Calibri"/>
              </a:rPr>
              <a:t>Task</a:t>
            </a:r>
            <a:r>
              <a:rPr dirty="0" sz="1100" spc="90">
                <a:latin typeface="Calibri"/>
                <a:cs typeface="Calibri"/>
              </a:rPr>
              <a:t> </a:t>
            </a:r>
            <a:r>
              <a:rPr dirty="0" sz="1100" spc="20">
                <a:latin typeface="Calibri"/>
                <a:cs typeface="Calibri"/>
              </a:rPr>
              <a:t>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75"/>
              <a:t>Thesis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204">
                <a:solidFill>
                  <a:srgbClr val="000000"/>
                </a:solidFill>
              </a:rPr>
              <a:t>Titanic </a:t>
            </a:r>
            <a:r>
              <a:rPr dirty="0" spc="175">
                <a:solidFill>
                  <a:srgbClr val="000000"/>
                </a:solidFill>
              </a:rPr>
              <a:t>Data</a:t>
            </a:r>
            <a:r>
              <a:rPr dirty="0" spc="210">
                <a:solidFill>
                  <a:srgbClr val="000000"/>
                </a:solidFill>
              </a:rPr>
              <a:t> </a:t>
            </a:r>
            <a:r>
              <a:rPr dirty="0" spc="185">
                <a:solidFill>
                  <a:srgbClr val="000000"/>
                </a:solidFill>
              </a:rPr>
              <a:t>Findings</a:t>
            </a:r>
          </a:p>
        </p:txBody>
      </p:sp>
      <p:sp>
        <p:nvSpPr>
          <p:cNvPr id="4" name="object 4" descr=""/>
          <p:cNvSpPr/>
          <p:nvPr/>
        </p:nvSpPr>
        <p:spPr>
          <a:xfrm>
            <a:off x="904875" y="2532456"/>
            <a:ext cx="218440" cy="0"/>
          </a:xfrm>
          <a:custGeom>
            <a:avLst/>
            <a:gdLst/>
            <a:ahLst/>
            <a:cxnLst/>
            <a:rect l="l" t="t" r="r" b="b"/>
            <a:pathLst>
              <a:path w="218440" h="0">
                <a:moveTo>
                  <a:pt x="0" y="0"/>
                </a:moveTo>
                <a:lnTo>
                  <a:pt x="217829" y="0"/>
                </a:lnTo>
              </a:path>
            </a:pathLst>
          </a:custGeom>
          <a:ln w="894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92175" y="2734691"/>
            <a:ext cx="1885314" cy="2235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spc="135">
                <a:latin typeface="Calibri"/>
                <a:cs typeface="Calibri"/>
              </a:rPr>
              <a:t>By</a:t>
            </a:r>
            <a:r>
              <a:rPr dirty="0" sz="1300" spc="170">
                <a:latin typeface="Calibri"/>
                <a:cs typeface="Calibri"/>
              </a:rPr>
              <a:t> </a:t>
            </a:r>
            <a:r>
              <a:rPr dirty="0" sz="1300">
                <a:latin typeface="Calibri"/>
                <a:cs typeface="Calibri"/>
              </a:rPr>
              <a:t>:</a:t>
            </a:r>
            <a:r>
              <a:rPr dirty="0" sz="1300" spc="175">
                <a:latin typeface="Calibri"/>
                <a:cs typeface="Calibri"/>
              </a:rPr>
              <a:t> </a:t>
            </a:r>
            <a:r>
              <a:rPr dirty="0" sz="1300" b="1">
                <a:latin typeface="Calibri"/>
                <a:cs typeface="Calibri"/>
              </a:rPr>
              <a:t>Abdelrahman</a:t>
            </a:r>
            <a:r>
              <a:rPr dirty="0" sz="1300" spc="170" b="1">
                <a:latin typeface="Calibri"/>
                <a:cs typeface="Calibri"/>
              </a:rPr>
              <a:t> </a:t>
            </a:r>
            <a:r>
              <a:rPr dirty="0" sz="1300" spc="-10" b="1">
                <a:latin typeface="Calibri"/>
                <a:cs typeface="Calibri"/>
              </a:rPr>
              <a:t>Sameh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892175" y="6931532"/>
            <a:ext cx="5883275" cy="1156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70" b="1">
                <a:latin typeface="Calibri"/>
                <a:cs typeface="Calibri"/>
              </a:rPr>
              <a:t>Loading </a:t>
            </a:r>
            <a:r>
              <a:rPr dirty="0" sz="1400" spc="95" b="1">
                <a:latin typeface="Calibri"/>
                <a:cs typeface="Calibri"/>
              </a:rPr>
              <a:t>The</a:t>
            </a:r>
            <a:r>
              <a:rPr dirty="0" sz="1400" spc="70" b="1">
                <a:latin typeface="Calibri"/>
                <a:cs typeface="Calibri"/>
              </a:rPr>
              <a:t> </a:t>
            </a:r>
            <a:r>
              <a:rPr dirty="0" sz="1400" spc="40" b="1"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1100">
                <a:latin typeface="Cambria"/>
                <a:cs typeface="Cambria"/>
              </a:rPr>
              <a:t>First,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starting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by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loading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65">
                <a:latin typeface="Cambria"/>
                <a:cs typeface="Cambria"/>
              </a:rPr>
              <a:t> CSV </a:t>
            </a:r>
            <a:r>
              <a:rPr dirty="0" sz="1100">
                <a:latin typeface="Cambria"/>
                <a:cs typeface="Cambria"/>
              </a:rPr>
              <a:t>file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into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editor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Pandas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frame.</a:t>
            </a:r>
            <a:endParaRPr sz="1100">
              <a:latin typeface="Cambria"/>
              <a:cs typeface="Cambria"/>
            </a:endParaRPr>
          </a:p>
          <a:p>
            <a:pPr marL="12700" marR="5080">
              <a:lnSpc>
                <a:spcPct val="128800"/>
              </a:lnSpc>
              <a:spcBef>
                <a:spcPts val="1000"/>
              </a:spcBef>
            </a:pPr>
            <a:r>
              <a:rPr dirty="0" sz="1100">
                <a:latin typeface="Cambria"/>
                <a:cs typeface="Cambria"/>
              </a:rPr>
              <a:t>After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so,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take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quick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look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determine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which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fields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got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corrupted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(NaN)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values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how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many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them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have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insight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before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start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cleaning.</a:t>
            </a:r>
            <a:endParaRPr sz="1100">
              <a:latin typeface="Cambria"/>
              <a:cs typeface="Cambri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3230245"/>
            <a:ext cx="5648324" cy="331470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925" y="8278495"/>
            <a:ext cx="5219700" cy="8858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96971" y="567499"/>
            <a:ext cx="876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Cambria"/>
                <a:cs typeface="Cambria"/>
              </a:rPr>
              <a:t>2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892175" y="1561338"/>
            <a:ext cx="5923915" cy="2503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60" b="1">
                <a:latin typeface="Calibri"/>
                <a:cs typeface="Calibri"/>
              </a:rPr>
              <a:t>Data</a:t>
            </a:r>
            <a:r>
              <a:rPr dirty="0" sz="1400" spc="7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cleaning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29700"/>
              </a:lnSpc>
              <a:spcBef>
                <a:spcPts val="1115"/>
              </a:spcBef>
            </a:pPr>
            <a:r>
              <a:rPr dirty="0" sz="1100">
                <a:latin typeface="Cambria"/>
                <a:cs typeface="Cambria"/>
              </a:rPr>
              <a:t>After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loading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data,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quickly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notice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most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was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intact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except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and </a:t>
            </a:r>
            <a:r>
              <a:rPr dirty="0" sz="1100">
                <a:latin typeface="Cambria"/>
                <a:cs typeface="Cambria"/>
              </a:rPr>
              <a:t>cabin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columns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which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had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most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amount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NaNs,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having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about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20%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fields </a:t>
            </a:r>
            <a:r>
              <a:rPr dirty="0" sz="1100">
                <a:latin typeface="Cambria"/>
                <a:cs typeface="Cambria"/>
              </a:rPr>
              <a:t>being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NaNs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Cabin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having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around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78%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its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fields</a:t>
            </a:r>
            <a:r>
              <a:rPr dirty="0" sz="1100" spc="9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being</a:t>
            </a:r>
            <a:r>
              <a:rPr dirty="0" sz="1100" spc="8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NaNs.</a:t>
            </a:r>
            <a:endParaRPr sz="1100">
              <a:latin typeface="Cambria"/>
              <a:cs typeface="Cambria"/>
            </a:endParaRPr>
          </a:p>
          <a:p>
            <a:pPr marL="12700" marR="15240">
              <a:lnSpc>
                <a:spcPct val="128800"/>
              </a:lnSpc>
              <a:spcBef>
                <a:spcPts val="1025"/>
              </a:spcBef>
            </a:pPr>
            <a:r>
              <a:rPr dirty="0" sz="1100">
                <a:latin typeface="Cambria"/>
                <a:cs typeface="Cambria"/>
              </a:rPr>
              <a:t>Since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intuitive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think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would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great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importance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survival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as </a:t>
            </a:r>
            <a:r>
              <a:rPr dirty="0" sz="1100">
                <a:latin typeface="Cambria"/>
                <a:cs typeface="Cambria"/>
              </a:rPr>
              <a:t>corrupted,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decided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fill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NaNs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mean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value.</a:t>
            </a:r>
            <a:endParaRPr sz="1100">
              <a:latin typeface="Cambria"/>
              <a:cs typeface="Cambria"/>
            </a:endParaRPr>
          </a:p>
          <a:p>
            <a:pPr marL="12700" marR="155575">
              <a:lnSpc>
                <a:spcPct val="128800"/>
              </a:lnSpc>
              <a:spcBef>
                <a:spcPts val="1025"/>
              </a:spcBef>
            </a:pPr>
            <a:r>
              <a:rPr dirty="0" sz="1100">
                <a:latin typeface="Cambria"/>
                <a:cs typeface="Cambria"/>
              </a:rPr>
              <a:t>I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also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decided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drop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cabin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column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immensely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corrupted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wouldnt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use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for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data.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also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made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50">
                <a:latin typeface="Cambria"/>
                <a:cs typeface="Cambria"/>
              </a:rPr>
              <a:t>“Sex”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column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only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male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or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female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for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further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analysis.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92175" y="6990588"/>
            <a:ext cx="5324475" cy="19189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55" b="1">
                <a:latin typeface="Calibri"/>
                <a:cs typeface="Calibri"/>
              </a:rPr>
              <a:t>Exploratory</a:t>
            </a:r>
            <a:r>
              <a:rPr dirty="0" sz="1400" spc="85" b="1">
                <a:latin typeface="Calibri"/>
                <a:cs typeface="Calibri"/>
              </a:rPr>
              <a:t> </a:t>
            </a:r>
            <a:r>
              <a:rPr dirty="0" sz="1400" spc="60" b="1">
                <a:latin typeface="Calibri"/>
                <a:cs typeface="Calibri"/>
              </a:rPr>
              <a:t>Data</a:t>
            </a:r>
            <a:r>
              <a:rPr dirty="0" sz="1400" spc="90" b="1">
                <a:latin typeface="Calibri"/>
                <a:cs typeface="Calibri"/>
              </a:rPr>
              <a:t> </a:t>
            </a:r>
            <a:r>
              <a:rPr dirty="0" sz="1400" spc="60" b="1">
                <a:latin typeface="Calibri"/>
                <a:cs typeface="Calibri"/>
              </a:rPr>
              <a:t>Analysis</a:t>
            </a:r>
            <a:r>
              <a:rPr dirty="0" sz="1400" spc="85" b="1">
                <a:latin typeface="Calibri"/>
                <a:cs typeface="Calibri"/>
              </a:rPr>
              <a:t> </a:t>
            </a:r>
            <a:r>
              <a:rPr dirty="0" sz="1400" spc="125" b="1">
                <a:latin typeface="Calibri"/>
                <a:cs typeface="Calibri"/>
              </a:rPr>
              <a:t>(EDA)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28800"/>
              </a:lnSpc>
              <a:spcBef>
                <a:spcPts val="1125"/>
              </a:spcBef>
            </a:pP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perform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couple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operations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data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get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useful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insights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about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titanic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and </a:t>
            </a:r>
            <a:r>
              <a:rPr dirty="0" sz="1100">
                <a:latin typeface="Cambria"/>
                <a:cs typeface="Cambria"/>
              </a:rPr>
              <a:t>survivorship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general.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Relation</a:t>
            </a:r>
            <a:r>
              <a:rPr dirty="0" sz="1300" spc="155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857B"/>
                </a:solidFill>
                <a:latin typeface="Calibri"/>
                <a:cs typeface="Calibri"/>
              </a:rPr>
              <a:t>between</a:t>
            </a:r>
            <a:r>
              <a:rPr dirty="0" sz="1300" spc="155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classes</a:t>
            </a:r>
            <a:r>
              <a:rPr dirty="0" sz="1300" spc="155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and</a:t>
            </a:r>
            <a:r>
              <a:rPr dirty="0" sz="1300" spc="155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45" b="1">
                <a:solidFill>
                  <a:srgbClr val="00857B"/>
                </a:solidFill>
                <a:latin typeface="Calibri"/>
                <a:cs typeface="Calibri"/>
              </a:rPr>
              <a:t>survival</a:t>
            </a:r>
            <a:r>
              <a:rPr dirty="0" sz="1300" spc="155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00857B"/>
                </a:solidFill>
                <a:latin typeface="Calibri"/>
                <a:cs typeface="Calibri"/>
              </a:rPr>
              <a:t>rate</a:t>
            </a:r>
            <a:endParaRPr sz="1300">
              <a:latin typeface="Calibri"/>
              <a:cs typeface="Calibri"/>
            </a:endParaRPr>
          </a:p>
          <a:p>
            <a:pPr marL="476884" indent="-226060">
              <a:lnSpc>
                <a:spcPct val="100000"/>
              </a:lnSpc>
              <a:spcBef>
                <a:spcPts val="994"/>
              </a:spcBef>
              <a:buAutoNum type="arabicParenR"/>
              <a:tabLst>
                <a:tab pos="476884" algn="l"/>
              </a:tabLst>
            </a:pP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notice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first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class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rate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62%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133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people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surviving.</a:t>
            </a:r>
            <a:endParaRPr sz="1100">
              <a:latin typeface="Cambria"/>
              <a:cs typeface="Cambria"/>
            </a:endParaRPr>
          </a:p>
          <a:p>
            <a:pPr marL="476884" indent="-226060">
              <a:lnSpc>
                <a:spcPct val="100000"/>
              </a:lnSpc>
              <a:spcBef>
                <a:spcPts val="380"/>
              </a:spcBef>
              <a:buAutoNum type="arabicParenR"/>
              <a:tabLst>
                <a:tab pos="476884" algn="l"/>
              </a:tabLst>
            </a:pPr>
            <a:r>
              <a:rPr dirty="0" sz="1100">
                <a:latin typeface="Cambria"/>
                <a:cs typeface="Cambria"/>
              </a:rPr>
              <a:t>Second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class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rate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44%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82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people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surviving.</a:t>
            </a:r>
            <a:endParaRPr sz="1100">
              <a:latin typeface="Cambria"/>
              <a:cs typeface="Cambria"/>
            </a:endParaRPr>
          </a:p>
          <a:p>
            <a:pPr marL="476884" indent="-226060">
              <a:lnSpc>
                <a:spcPct val="100000"/>
              </a:lnSpc>
              <a:spcBef>
                <a:spcPts val="405"/>
              </a:spcBef>
              <a:buAutoNum type="arabicParenR"/>
              <a:tabLst>
                <a:tab pos="476884" algn="l"/>
              </a:tabLst>
            </a:pPr>
            <a:r>
              <a:rPr dirty="0" sz="1100">
                <a:latin typeface="Cambria"/>
                <a:cs typeface="Cambria"/>
              </a:rPr>
              <a:t>Third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class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had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survival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rate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24%</a:t>
            </a:r>
            <a:r>
              <a:rPr dirty="0" sz="1100" spc="4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117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people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surviving.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52400"/>
            <a:ext cx="7772400" cy="838200"/>
            <a:chOff x="0" y="152400"/>
            <a:chExt cx="7772400" cy="838200"/>
          </a:xfrm>
        </p:grpSpPr>
        <p:sp>
          <p:nvSpPr>
            <p:cNvPr id="6" name="object 6" descr=""/>
            <p:cNvSpPr/>
            <p:nvPr/>
          </p:nvSpPr>
          <p:spPr>
            <a:xfrm>
              <a:off x="63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49" y="393700"/>
              <a:ext cx="5702300" cy="596900"/>
            </a:xfrm>
            <a:custGeom>
              <a:avLst/>
              <a:gdLst/>
              <a:ahLst/>
              <a:cxnLst/>
              <a:rect l="l" t="t" r="r" b="b"/>
              <a:pathLst>
                <a:path w="5702300" h="596900">
                  <a:moveTo>
                    <a:pt x="0" y="0"/>
                  </a:moveTo>
                  <a:lnTo>
                    <a:pt x="0" y="596899"/>
                  </a:lnTo>
                </a:path>
                <a:path w="5702300" h="596900">
                  <a:moveTo>
                    <a:pt x="5702300" y="0"/>
                  </a:moveTo>
                  <a:lnTo>
                    <a:pt x="570230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7660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66049" y="393700"/>
              <a:ext cx="0" cy="596900"/>
            </a:xfrm>
            <a:custGeom>
              <a:avLst/>
              <a:gdLst/>
              <a:ahLst/>
              <a:cxnLst/>
              <a:rect l="l" t="t" r="r" b="b"/>
              <a:pathLst>
                <a:path w="0" h="596900">
                  <a:moveTo>
                    <a:pt x="0" y="0"/>
                  </a:moveTo>
                  <a:lnTo>
                    <a:pt x="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158750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400050"/>
              <a:ext cx="7772400" cy="584200"/>
            </a:xfrm>
            <a:custGeom>
              <a:avLst/>
              <a:gdLst/>
              <a:ahLst/>
              <a:cxnLst/>
              <a:rect l="l" t="t" r="r" b="b"/>
              <a:pathLst>
                <a:path w="7772400" h="584200">
                  <a:moveTo>
                    <a:pt x="0" y="0"/>
                  </a:moveTo>
                  <a:lnTo>
                    <a:pt x="7772400" y="0"/>
                  </a:lnTo>
                </a:path>
                <a:path w="7772400" h="584200">
                  <a:moveTo>
                    <a:pt x="0" y="584200"/>
                  </a:moveTo>
                  <a:lnTo>
                    <a:pt x="7772400" y="584200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3925" y="4251325"/>
            <a:ext cx="5943600" cy="23717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96971" y="567499"/>
            <a:ext cx="876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Cambria"/>
                <a:cs typeface="Cambria"/>
              </a:rPr>
              <a:t>3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700" y="1336801"/>
            <a:ext cx="5869305" cy="457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33655">
              <a:lnSpc>
                <a:spcPct val="128800"/>
              </a:lnSpc>
              <a:spcBef>
                <a:spcPts val="100"/>
              </a:spcBef>
            </a:pPr>
            <a:r>
              <a:rPr dirty="0" sz="1100">
                <a:latin typeface="Cambria"/>
                <a:cs typeface="Cambria"/>
              </a:rPr>
              <a:t>It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appears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position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cabins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based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classes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first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class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middle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ship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reduce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motion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such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helped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with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survival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7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less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impact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collision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people.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01700" y="2288920"/>
            <a:ext cx="5937250" cy="2620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Relation</a:t>
            </a:r>
            <a:r>
              <a:rPr dirty="0" sz="1300" spc="11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857B"/>
                </a:solidFill>
                <a:latin typeface="Calibri"/>
                <a:cs typeface="Calibri"/>
              </a:rPr>
              <a:t>between</a:t>
            </a:r>
            <a:r>
              <a:rPr dirty="0" sz="1300" spc="11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number</a:t>
            </a:r>
            <a:r>
              <a:rPr dirty="0" sz="1300" spc="114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of</a:t>
            </a:r>
            <a:r>
              <a:rPr dirty="0" sz="1300" spc="11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males</a:t>
            </a:r>
            <a:r>
              <a:rPr dirty="0" sz="1300" spc="114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and</a:t>
            </a:r>
            <a:r>
              <a:rPr dirty="0" sz="1300" spc="11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857B"/>
                </a:solidFill>
                <a:latin typeface="Calibri"/>
                <a:cs typeface="Calibri"/>
              </a:rPr>
              <a:t>females</a:t>
            </a:r>
            <a:endParaRPr sz="1300">
              <a:latin typeface="Calibri"/>
              <a:cs typeface="Calibri"/>
            </a:endParaRPr>
          </a:p>
          <a:p>
            <a:pPr marL="467359" marR="5080" indent="-226060">
              <a:lnSpc>
                <a:spcPct val="128800"/>
              </a:lnSpc>
              <a:spcBef>
                <a:spcPts val="615"/>
              </a:spcBef>
              <a:buAutoNum type="arabicParenR"/>
              <a:tabLst>
                <a:tab pos="469900" algn="l"/>
              </a:tabLst>
            </a:pPr>
            <a:r>
              <a:rPr dirty="0" sz="1100">
                <a:latin typeface="Cambria"/>
                <a:cs typeface="Cambria"/>
              </a:rPr>
              <a:t>We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notice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out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survivors,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males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made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up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only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33%,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while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females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made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up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45">
                <a:latin typeface="Cambria"/>
                <a:cs typeface="Cambria"/>
              </a:rPr>
              <a:t>67%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25">
                <a:latin typeface="Cambria"/>
                <a:cs typeface="Cambria"/>
              </a:rPr>
              <a:t>of </a:t>
            </a:r>
            <a:r>
              <a:rPr dirty="0" sz="1100" spc="-25">
                <a:latin typeface="Cambria"/>
                <a:cs typeface="Cambria"/>
              </a:rPr>
              <a:t>	</a:t>
            </a: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8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survivors.</a:t>
            </a:r>
            <a:endParaRPr sz="1100">
              <a:latin typeface="Cambria"/>
              <a:cs typeface="Cambria"/>
            </a:endParaRPr>
          </a:p>
          <a:p>
            <a:pPr marL="12700" marR="143510">
              <a:lnSpc>
                <a:spcPct val="128800"/>
              </a:lnSpc>
              <a:spcBef>
                <a:spcPts val="1025"/>
              </a:spcBef>
            </a:pPr>
            <a:r>
              <a:rPr dirty="0" sz="1100">
                <a:latin typeface="Cambria"/>
                <a:cs typeface="Cambria"/>
              </a:rPr>
              <a:t>So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its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safe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to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assume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women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cabins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were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in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places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that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were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more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secure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and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afloat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than men.</a:t>
            </a:r>
            <a:endParaRPr sz="11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1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Relation</a:t>
            </a:r>
            <a:r>
              <a:rPr dirty="0" sz="1300" spc="12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857B"/>
                </a:solidFill>
                <a:latin typeface="Calibri"/>
                <a:cs typeface="Calibri"/>
              </a:rPr>
              <a:t>between</a:t>
            </a:r>
            <a:r>
              <a:rPr dirty="0" sz="1300" spc="12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age</a:t>
            </a:r>
            <a:r>
              <a:rPr dirty="0" sz="1300" spc="12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of</a:t>
            </a:r>
            <a:r>
              <a:rPr dirty="0" sz="1300" spc="12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males</a:t>
            </a:r>
            <a:r>
              <a:rPr dirty="0" sz="1300" spc="12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00857B"/>
                </a:solidFill>
                <a:latin typeface="Calibri"/>
                <a:cs typeface="Calibri"/>
              </a:rPr>
              <a:t>and</a:t>
            </a:r>
            <a:r>
              <a:rPr dirty="0" sz="1300" spc="120" b="1">
                <a:solidFill>
                  <a:srgbClr val="00857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00857B"/>
                </a:solidFill>
                <a:latin typeface="Calibri"/>
                <a:cs typeface="Calibri"/>
              </a:rPr>
              <a:t>females</a:t>
            </a:r>
            <a:endParaRPr sz="1300">
              <a:latin typeface="Calibri"/>
              <a:cs typeface="Calibri"/>
            </a:endParaRPr>
          </a:p>
          <a:p>
            <a:pPr marL="467359" indent="-226060">
              <a:lnSpc>
                <a:spcPct val="100000"/>
              </a:lnSpc>
              <a:spcBef>
                <a:spcPts val="994"/>
              </a:spcBef>
              <a:buAutoNum type="arabicParenR"/>
              <a:tabLst>
                <a:tab pos="467359" algn="l"/>
              </a:tabLst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mean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men</a:t>
            </a:r>
            <a:r>
              <a:rPr dirty="0" sz="1100" spc="6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was</a:t>
            </a:r>
            <a:r>
              <a:rPr dirty="0" sz="1100" spc="70">
                <a:latin typeface="Cambria"/>
                <a:cs typeface="Cambria"/>
              </a:rPr>
              <a:t> </a:t>
            </a:r>
            <a:r>
              <a:rPr dirty="0" sz="1100" spc="-10">
                <a:latin typeface="Cambria"/>
                <a:cs typeface="Cambria"/>
              </a:rPr>
              <a:t>30.5.</a:t>
            </a:r>
            <a:endParaRPr sz="1100">
              <a:latin typeface="Cambria"/>
              <a:cs typeface="Cambria"/>
            </a:endParaRPr>
          </a:p>
          <a:p>
            <a:pPr marL="467359" indent="-226060">
              <a:lnSpc>
                <a:spcPct val="100000"/>
              </a:lnSpc>
              <a:spcBef>
                <a:spcPts val="380"/>
              </a:spcBef>
              <a:buAutoNum type="arabicParenR"/>
              <a:tabLst>
                <a:tab pos="467359" algn="l"/>
              </a:tabLst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mean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women</a:t>
            </a:r>
            <a:r>
              <a:rPr dirty="0" sz="1100" spc="6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was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30.5.</a:t>
            </a:r>
            <a:endParaRPr sz="1100">
              <a:latin typeface="Cambria"/>
              <a:cs typeface="Cambria"/>
            </a:endParaRPr>
          </a:p>
          <a:p>
            <a:pPr marL="467359" indent="-226060">
              <a:lnSpc>
                <a:spcPct val="100000"/>
              </a:lnSpc>
              <a:spcBef>
                <a:spcPts val="405"/>
              </a:spcBef>
              <a:buAutoNum type="arabicParenR"/>
              <a:tabLst>
                <a:tab pos="467359" algn="l"/>
              </a:tabLst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mean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who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survived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was</a:t>
            </a:r>
            <a:r>
              <a:rPr dirty="0" sz="1100" spc="55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27.6</a:t>
            </a:r>
            <a:endParaRPr sz="1100">
              <a:latin typeface="Cambria"/>
              <a:cs typeface="Cambria"/>
            </a:endParaRPr>
          </a:p>
          <a:p>
            <a:pPr marL="467359" indent="-226060">
              <a:lnSpc>
                <a:spcPct val="100000"/>
              </a:lnSpc>
              <a:spcBef>
                <a:spcPts val="405"/>
              </a:spcBef>
              <a:buAutoNum type="arabicParenR"/>
              <a:tabLst>
                <a:tab pos="467359" algn="l"/>
              </a:tabLst>
            </a:pPr>
            <a:r>
              <a:rPr dirty="0" sz="1100">
                <a:latin typeface="Cambria"/>
                <a:cs typeface="Cambria"/>
              </a:rPr>
              <a:t>The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mean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age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of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women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who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survied</a:t>
            </a:r>
            <a:r>
              <a:rPr dirty="0" sz="1100" spc="45">
                <a:latin typeface="Cambria"/>
                <a:cs typeface="Cambria"/>
              </a:rPr>
              <a:t> </a:t>
            </a:r>
            <a:r>
              <a:rPr dirty="0" sz="1100">
                <a:latin typeface="Cambria"/>
                <a:cs typeface="Cambria"/>
              </a:rPr>
              <a:t>was</a:t>
            </a:r>
            <a:r>
              <a:rPr dirty="0" sz="1100" spc="50">
                <a:latin typeface="Cambria"/>
                <a:cs typeface="Cambria"/>
              </a:rPr>
              <a:t> </a:t>
            </a:r>
            <a:r>
              <a:rPr dirty="0" sz="1100" spc="-20">
                <a:latin typeface="Cambria"/>
                <a:cs typeface="Cambria"/>
              </a:rPr>
              <a:t>27.9.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0" y="152400"/>
            <a:ext cx="7772400" cy="838200"/>
            <a:chOff x="0" y="152400"/>
            <a:chExt cx="7772400" cy="838200"/>
          </a:xfrm>
        </p:grpSpPr>
        <p:sp>
          <p:nvSpPr>
            <p:cNvPr id="6" name="object 6" descr=""/>
            <p:cNvSpPr/>
            <p:nvPr/>
          </p:nvSpPr>
          <p:spPr>
            <a:xfrm>
              <a:off x="63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49" y="393700"/>
              <a:ext cx="5702300" cy="596900"/>
            </a:xfrm>
            <a:custGeom>
              <a:avLst/>
              <a:gdLst/>
              <a:ahLst/>
              <a:cxnLst/>
              <a:rect l="l" t="t" r="r" b="b"/>
              <a:pathLst>
                <a:path w="5702300" h="596900">
                  <a:moveTo>
                    <a:pt x="0" y="0"/>
                  </a:moveTo>
                  <a:lnTo>
                    <a:pt x="0" y="596899"/>
                  </a:lnTo>
                </a:path>
                <a:path w="5702300" h="596900">
                  <a:moveTo>
                    <a:pt x="5702300" y="0"/>
                  </a:moveTo>
                  <a:lnTo>
                    <a:pt x="570230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7660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7766049" y="393700"/>
              <a:ext cx="0" cy="596900"/>
            </a:xfrm>
            <a:custGeom>
              <a:avLst/>
              <a:gdLst/>
              <a:ahLst/>
              <a:cxnLst/>
              <a:rect l="l" t="t" r="r" b="b"/>
              <a:pathLst>
                <a:path w="0" h="596900">
                  <a:moveTo>
                    <a:pt x="0" y="0"/>
                  </a:moveTo>
                  <a:lnTo>
                    <a:pt x="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158750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400050"/>
              <a:ext cx="7772400" cy="584200"/>
            </a:xfrm>
            <a:custGeom>
              <a:avLst/>
              <a:gdLst/>
              <a:ahLst/>
              <a:cxnLst/>
              <a:rect l="l" t="t" r="r" b="b"/>
              <a:pathLst>
                <a:path w="7772400" h="584200">
                  <a:moveTo>
                    <a:pt x="0" y="0"/>
                  </a:moveTo>
                  <a:lnTo>
                    <a:pt x="7772400" y="0"/>
                  </a:lnTo>
                </a:path>
                <a:path w="7772400" h="584200">
                  <a:moveTo>
                    <a:pt x="0" y="584200"/>
                  </a:moveTo>
                  <a:lnTo>
                    <a:pt x="7772400" y="584200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5099050"/>
            <a:ext cx="5943600" cy="34194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96971" y="567499"/>
            <a:ext cx="876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Cambria"/>
                <a:cs typeface="Cambria"/>
              </a:rPr>
              <a:t>4</a:t>
            </a:r>
            <a:endParaRPr sz="1100">
              <a:latin typeface="Cambria"/>
              <a:cs typeface="Cambri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1700" y="5104638"/>
            <a:ext cx="11245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latin typeface="Calibri"/>
                <a:cs typeface="Calibri"/>
              </a:rPr>
              <a:t>Visualisations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0" y="152400"/>
            <a:ext cx="7772400" cy="838200"/>
            <a:chOff x="0" y="152400"/>
            <a:chExt cx="7772400" cy="838200"/>
          </a:xfrm>
        </p:grpSpPr>
        <p:sp>
          <p:nvSpPr>
            <p:cNvPr id="5" name="object 5" descr=""/>
            <p:cNvSpPr/>
            <p:nvPr/>
          </p:nvSpPr>
          <p:spPr>
            <a:xfrm>
              <a:off x="63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349" y="393700"/>
              <a:ext cx="5702300" cy="596900"/>
            </a:xfrm>
            <a:custGeom>
              <a:avLst/>
              <a:gdLst/>
              <a:ahLst/>
              <a:cxnLst/>
              <a:rect l="l" t="t" r="r" b="b"/>
              <a:pathLst>
                <a:path w="5702300" h="596900">
                  <a:moveTo>
                    <a:pt x="0" y="0"/>
                  </a:moveTo>
                  <a:lnTo>
                    <a:pt x="0" y="596899"/>
                  </a:lnTo>
                </a:path>
                <a:path w="5702300" h="596900">
                  <a:moveTo>
                    <a:pt x="5702300" y="0"/>
                  </a:moveTo>
                  <a:lnTo>
                    <a:pt x="570230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7660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766049" y="393700"/>
              <a:ext cx="0" cy="596900"/>
            </a:xfrm>
            <a:custGeom>
              <a:avLst/>
              <a:gdLst/>
              <a:ahLst/>
              <a:cxnLst/>
              <a:rect l="l" t="t" r="r" b="b"/>
              <a:pathLst>
                <a:path w="0" h="596900">
                  <a:moveTo>
                    <a:pt x="0" y="0"/>
                  </a:moveTo>
                  <a:lnTo>
                    <a:pt x="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158750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0" y="400050"/>
              <a:ext cx="7772400" cy="584200"/>
            </a:xfrm>
            <a:custGeom>
              <a:avLst/>
              <a:gdLst/>
              <a:ahLst/>
              <a:cxnLst/>
              <a:rect l="l" t="t" r="r" b="b"/>
              <a:pathLst>
                <a:path w="7772400" h="584200">
                  <a:moveTo>
                    <a:pt x="0" y="0"/>
                  </a:moveTo>
                  <a:lnTo>
                    <a:pt x="7772400" y="0"/>
                  </a:lnTo>
                </a:path>
                <a:path w="7772400" h="584200">
                  <a:moveTo>
                    <a:pt x="0" y="584200"/>
                  </a:moveTo>
                  <a:lnTo>
                    <a:pt x="7772400" y="584200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1422400"/>
            <a:ext cx="5943600" cy="3314700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925" y="5546725"/>
            <a:ext cx="59436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696971" y="567499"/>
            <a:ext cx="8763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Cambria"/>
                <a:cs typeface="Cambria"/>
              </a:rPr>
              <a:t>5</a:t>
            </a:r>
            <a:endParaRPr sz="1100">
              <a:latin typeface="Cambria"/>
              <a:cs typeface="Cambri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152400"/>
            <a:ext cx="7772400" cy="838200"/>
            <a:chOff x="0" y="152400"/>
            <a:chExt cx="7772400" cy="838200"/>
          </a:xfrm>
        </p:grpSpPr>
        <p:sp>
          <p:nvSpPr>
            <p:cNvPr id="4" name="object 4" descr=""/>
            <p:cNvSpPr/>
            <p:nvPr/>
          </p:nvSpPr>
          <p:spPr>
            <a:xfrm>
              <a:off x="63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6349" y="393700"/>
              <a:ext cx="5702300" cy="596900"/>
            </a:xfrm>
            <a:custGeom>
              <a:avLst/>
              <a:gdLst/>
              <a:ahLst/>
              <a:cxnLst/>
              <a:rect l="l" t="t" r="r" b="b"/>
              <a:pathLst>
                <a:path w="5702300" h="596900">
                  <a:moveTo>
                    <a:pt x="0" y="0"/>
                  </a:moveTo>
                  <a:lnTo>
                    <a:pt x="0" y="596899"/>
                  </a:lnTo>
                </a:path>
                <a:path w="5702300" h="596900">
                  <a:moveTo>
                    <a:pt x="5702300" y="0"/>
                  </a:moveTo>
                  <a:lnTo>
                    <a:pt x="570230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766049" y="152400"/>
              <a:ext cx="0" cy="254000"/>
            </a:xfrm>
            <a:custGeom>
              <a:avLst/>
              <a:gdLst/>
              <a:ahLst/>
              <a:cxnLst/>
              <a:rect l="l" t="t" r="r" b="b"/>
              <a:pathLst>
                <a:path w="0" h="254000">
                  <a:moveTo>
                    <a:pt x="0" y="0"/>
                  </a:moveTo>
                  <a:lnTo>
                    <a:pt x="0" y="253999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766049" y="393700"/>
              <a:ext cx="0" cy="596900"/>
            </a:xfrm>
            <a:custGeom>
              <a:avLst/>
              <a:gdLst/>
              <a:ahLst/>
              <a:cxnLst/>
              <a:rect l="l" t="t" r="r" b="b"/>
              <a:pathLst>
                <a:path w="0" h="596900">
                  <a:moveTo>
                    <a:pt x="0" y="0"/>
                  </a:moveTo>
                  <a:lnTo>
                    <a:pt x="0" y="596899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0" y="158750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400" y="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0" y="400050"/>
              <a:ext cx="7772400" cy="584200"/>
            </a:xfrm>
            <a:custGeom>
              <a:avLst/>
              <a:gdLst/>
              <a:ahLst/>
              <a:cxnLst/>
              <a:rect l="l" t="t" r="r" b="b"/>
              <a:pathLst>
                <a:path w="7772400" h="584200">
                  <a:moveTo>
                    <a:pt x="0" y="0"/>
                  </a:moveTo>
                  <a:lnTo>
                    <a:pt x="7772400" y="0"/>
                  </a:lnTo>
                </a:path>
                <a:path w="7772400" h="584200">
                  <a:moveTo>
                    <a:pt x="0" y="584200"/>
                  </a:moveTo>
                  <a:lnTo>
                    <a:pt x="7772400" y="584200"/>
                  </a:lnTo>
                </a:path>
              </a:pathLst>
            </a:custGeom>
            <a:ln w="12700">
              <a:solidFill>
                <a:srgbClr val="00A69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3450" y="1422400"/>
            <a:ext cx="5943600" cy="5191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Essay</dc:title>
  <dcterms:created xsi:type="dcterms:W3CDTF">2026-03-09T14:57:51Z</dcterms:created>
  <dcterms:modified xsi:type="dcterms:W3CDTF">2026-03-09T14:57:51Z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2026-03-09T00:00:00Z</vt:filetime>
  </property>
  <property fmtid="{D5CDD505-2E9C-101B-9397-08002B2CF9AE}" pid="3" name="Producer">
    <vt:lpwstr>Skia/PDF m147 Google Docs Renderer</vt:lpwstr>
  </property>
  <property fmtid="{D5CDD505-2E9C-101B-9397-08002B2CF9AE}" pid="4" name="LastSaved">
    <vt:filetime>2026-03-09T00:00:00Z</vt:filetime>
  </property>
</Properties>
</file>